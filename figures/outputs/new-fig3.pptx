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0799445" cy="10799445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50155" y="1767621"/>
            <a:ext cx="8100929" cy="3760256"/>
          </a:xfrm>
        </p:spPr>
        <p:txBody>
          <a:bodyPr anchor="b"/>
          <a:lstStyle>
            <a:lvl1pPr algn="ctr">
              <a:defRPr sz="708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50155" y="5672888"/>
            <a:ext cx="8100929" cy="2607677"/>
          </a:xfrm>
        </p:spPr>
        <p:txBody>
          <a:bodyPr/>
          <a:lstStyle>
            <a:lvl1pPr marL="0" indent="0" algn="ctr">
              <a:buNone/>
              <a:defRPr sz="2835"/>
            </a:lvl1pPr>
            <a:lvl2pPr marL="540385" indent="0" algn="ctr">
              <a:buNone/>
              <a:defRPr sz="2360"/>
            </a:lvl2pPr>
            <a:lvl3pPr marL="1080135" indent="0" algn="ctr">
              <a:buNone/>
              <a:defRPr sz="2125"/>
            </a:lvl3pPr>
            <a:lvl4pPr marL="1619885" indent="0" algn="ctr">
              <a:buNone/>
              <a:defRPr sz="1890"/>
            </a:lvl4pPr>
            <a:lvl5pPr marL="2160270" indent="0" algn="ctr">
              <a:buNone/>
              <a:defRPr sz="1890"/>
            </a:lvl5pPr>
            <a:lvl6pPr marL="2700020" indent="0" algn="ctr">
              <a:buNone/>
              <a:defRPr sz="1890"/>
            </a:lvl6pPr>
            <a:lvl7pPr marL="3240405" indent="0" algn="ctr">
              <a:buNone/>
              <a:defRPr sz="1890"/>
            </a:lvl7pPr>
            <a:lvl8pPr marL="3780790" indent="0" algn="ctr">
              <a:buNone/>
              <a:defRPr sz="1890"/>
            </a:lvl8pPr>
            <a:lvl9pPr marL="4320540" indent="0" algn="ctr">
              <a:buNone/>
              <a:defRPr sz="189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960" y="2692685"/>
            <a:ext cx="9316068" cy="4492806"/>
          </a:xfrm>
        </p:spPr>
        <p:txBody>
          <a:bodyPr anchor="b"/>
          <a:lstStyle>
            <a:lvl1pPr>
              <a:defRPr sz="708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6960" y="7227994"/>
            <a:ext cx="9316068" cy="2362661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1pPr>
            <a:lvl2pPr marL="540385" indent="0">
              <a:buNone/>
              <a:defRPr sz="2360">
                <a:solidFill>
                  <a:schemeClr val="tx1">
                    <a:tint val="75000"/>
                  </a:schemeClr>
                </a:solidFill>
              </a:defRPr>
            </a:lvl2pPr>
            <a:lvl3pPr marL="1080135" indent="0">
              <a:buNone/>
              <a:defRPr sz="2125">
                <a:solidFill>
                  <a:schemeClr val="tx1">
                    <a:tint val="75000"/>
                  </a:schemeClr>
                </a:solidFill>
              </a:defRPr>
            </a:lvl3pPr>
            <a:lvl4pPr marL="1619885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4pPr>
            <a:lvl5pPr marL="216027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5pPr>
            <a:lvl6pPr marL="27000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6pPr>
            <a:lvl7pPr marL="3240405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7pPr>
            <a:lvl8pPr marL="378079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8pPr>
            <a:lvl9pPr marL="432054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42585" y="2875196"/>
            <a:ext cx="4590527" cy="685296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68127" y="2875196"/>
            <a:ext cx="4590527" cy="685296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992" y="575039"/>
            <a:ext cx="9316068" cy="208764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43992" y="2647682"/>
            <a:ext cx="4569429" cy="1297588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40385" indent="0">
              <a:buNone/>
              <a:defRPr sz="2360" b="1"/>
            </a:lvl2pPr>
            <a:lvl3pPr marL="1080135" indent="0">
              <a:buNone/>
              <a:defRPr sz="2125" b="1"/>
            </a:lvl3pPr>
            <a:lvl4pPr marL="1619885" indent="0">
              <a:buNone/>
              <a:defRPr sz="1890" b="1"/>
            </a:lvl4pPr>
            <a:lvl5pPr marL="2160270" indent="0">
              <a:buNone/>
              <a:defRPr sz="1890" b="1"/>
            </a:lvl5pPr>
            <a:lvl6pPr marL="2700020" indent="0">
              <a:buNone/>
              <a:defRPr sz="1890" b="1"/>
            </a:lvl6pPr>
            <a:lvl7pPr marL="3240405" indent="0">
              <a:buNone/>
              <a:defRPr sz="1890" b="1"/>
            </a:lvl7pPr>
            <a:lvl8pPr marL="3780790" indent="0">
              <a:buNone/>
              <a:defRPr sz="1890" b="1"/>
            </a:lvl8pPr>
            <a:lvl9pPr marL="4320540" indent="0">
              <a:buNone/>
              <a:defRPr sz="189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43992" y="3945269"/>
            <a:ext cx="4569429" cy="580289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468127" y="2647682"/>
            <a:ext cx="4591933" cy="1297588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40385" indent="0">
              <a:buNone/>
              <a:defRPr sz="2360" b="1"/>
            </a:lvl2pPr>
            <a:lvl3pPr marL="1080135" indent="0">
              <a:buNone/>
              <a:defRPr sz="2125" b="1"/>
            </a:lvl3pPr>
            <a:lvl4pPr marL="1619885" indent="0">
              <a:buNone/>
              <a:defRPr sz="1890" b="1"/>
            </a:lvl4pPr>
            <a:lvl5pPr marL="2160270" indent="0">
              <a:buNone/>
              <a:defRPr sz="1890" b="1"/>
            </a:lvl5pPr>
            <a:lvl6pPr marL="2700020" indent="0">
              <a:buNone/>
              <a:defRPr sz="1890" b="1"/>
            </a:lvl6pPr>
            <a:lvl7pPr marL="3240405" indent="0">
              <a:buNone/>
              <a:defRPr sz="1890" b="1"/>
            </a:lvl7pPr>
            <a:lvl8pPr marL="3780790" indent="0">
              <a:buNone/>
              <a:defRPr sz="1890" b="1"/>
            </a:lvl8pPr>
            <a:lvl9pPr marL="4320540" indent="0">
              <a:buNone/>
              <a:defRPr sz="189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468127" y="3945269"/>
            <a:ext cx="4591933" cy="580289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992" y="720049"/>
            <a:ext cx="3483681" cy="2520172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91933" y="1555106"/>
            <a:ext cx="5468127" cy="7675524"/>
          </a:xfrm>
        </p:spPr>
        <p:txBody>
          <a:bodyPr/>
          <a:lstStyle>
            <a:lvl1pPr>
              <a:defRPr sz="3780"/>
            </a:lvl1pPr>
            <a:lvl2pPr>
              <a:defRPr sz="3310"/>
            </a:lvl2pPr>
            <a:lvl3pPr>
              <a:defRPr sz="2835"/>
            </a:lvl3pPr>
            <a:lvl4pPr>
              <a:defRPr sz="2360"/>
            </a:lvl4pPr>
            <a:lvl5pPr>
              <a:defRPr sz="2360"/>
            </a:lvl5pPr>
            <a:lvl6pPr>
              <a:defRPr sz="2360"/>
            </a:lvl6pPr>
            <a:lvl7pPr>
              <a:defRPr sz="2360"/>
            </a:lvl7pPr>
            <a:lvl8pPr>
              <a:defRPr sz="2360"/>
            </a:lvl8pPr>
            <a:lvl9pPr>
              <a:defRPr sz="236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3992" y="3240221"/>
            <a:ext cx="3483681" cy="6002911"/>
          </a:xfrm>
        </p:spPr>
        <p:txBody>
          <a:bodyPr/>
          <a:lstStyle>
            <a:lvl1pPr marL="0" indent="0">
              <a:buNone/>
              <a:defRPr sz="1890"/>
            </a:lvl1pPr>
            <a:lvl2pPr marL="540385" indent="0">
              <a:buNone/>
              <a:defRPr sz="1655"/>
            </a:lvl2pPr>
            <a:lvl3pPr marL="1080135" indent="0">
              <a:buNone/>
              <a:defRPr sz="1420"/>
            </a:lvl3pPr>
            <a:lvl4pPr marL="1619885" indent="0">
              <a:buNone/>
              <a:defRPr sz="1185"/>
            </a:lvl4pPr>
            <a:lvl5pPr marL="2160270" indent="0">
              <a:buNone/>
              <a:defRPr sz="1185"/>
            </a:lvl5pPr>
            <a:lvl6pPr marL="2700020" indent="0">
              <a:buNone/>
              <a:defRPr sz="1185"/>
            </a:lvl6pPr>
            <a:lvl7pPr marL="3240405" indent="0">
              <a:buNone/>
              <a:defRPr sz="1185"/>
            </a:lvl7pPr>
            <a:lvl8pPr marL="3780790" indent="0">
              <a:buNone/>
              <a:defRPr sz="1185"/>
            </a:lvl8pPr>
            <a:lvl9pPr marL="4320540" indent="0">
              <a:buNone/>
              <a:defRPr sz="118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992" y="720049"/>
            <a:ext cx="3483681" cy="2520172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91933" y="1555106"/>
            <a:ext cx="5468127" cy="7675524"/>
          </a:xfrm>
        </p:spPr>
        <p:txBody>
          <a:bodyPr/>
          <a:lstStyle>
            <a:lvl1pPr marL="0" indent="0">
              <a:buNone/>
              <a:defRPr sz="3780"/>
            </a:lvl1pPr>
            <a:lvl2pPr marL="540385" indent="0">
              <a:buNone/>
              <a:defRPr sz="3310"/>
            </a:lvl2pPr>
            <a:lvl3pPr marL="1080135" indent="0">
              <a:buNone/>
              <a:defRPr sz="2835"/>
            </a:lvl3pPr>
            <a:lvl4pPr marL="1619885" indent="0">
              <a:buNone/>
              <a:defRPr sz="2360"/>
            </a:lvl4pPr>
            <a:lvl5pPr marL="2160270" indent="0">
              <a:buNone/>
              <a:defRPr sz="2360"/>
            </a:lvl5pPr>
            <a:lvl6pPr marL="2700020" indent="0">
              <a:buNone/>
              <a:defRPr sz="2360"/>
            </a:lvl6pPr>
            <a:lvl7pPr marL="3240405" indent="0">
              <a:buNone/>
              <a:defRPr sz="2360"/>
            </a:lvl7pPr>
            <a:lvl8pPr marL="3780790" indent="0">
              <a:buNone/>
              <a:defRPr sz="2360"/>
            </a:lvl8pPr>
            <a:lvl9pPr marL="4320540" indent="0">
              <a:buNone/>
              <a:defRPr sz="236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3992" y="3240221"/>
            <a:ext cx="3483681" cy="6002911"/>
          </a:xfrm>
        </p:spPr>
        <p:txBody>
          <a:bodyPr/>
          <a:lstStyle>
            <a:lvl1pPr marL="0" indent="0">
              <a:buNone/>
              <a:defRPr sz="1890"/>
            </a:lvl1pPr>
            <a:lvl2pPr marL="540385" indent="0">
              <a:buNone/>
              <a:defRPr sz="1655"/>
            </a:lvl2pPr>
            <a:lvl3pPr marL="1080135" indent="0">
              <a:buNone/>
              <a:defRPr sz="1420"/>
            </a:lvl3pPr>
            <a:lvl4pPr marL="1619885" indent="0">
              <a:buNone/>
              <a:defRPr sz="1185"/>
            </a:lvl4pPr>
            <a:lvl5pPr marL="2160270" indent="0">
              <a:buNone/>
              <a:defRPr sz="1185"/>
            </a:lvl5pPr>
            <a:lvl6pPr marL="2700020" indent="0">
              <a:buNone/>
              <a:defRPr sz="1185"/>
            </a:lvl6pPr>
            <a:lvl7pPr marL="3240405" indent="0">
              <a:buNone/>
              <a:defRPr sz="1185"/>
            </a:lvl7pPr>
            <a:lvl8pPr marL="3780790" indent="0">
              <a:buNone/>
              <a:defRPr sz="1185"/>
            </a:lvl8pPr>
            <a:lvl9pPr marL="4320540" indent="0">
              <a:buNone/>
              <a:defRPr sz="118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729636" y="575039"/>
            <a:ext cx="2329017" cy="9153126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42585" y="575039"/>
            <a:ext cx="6852035" cy="9153126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42585" y="575039"/>
            <a:ext cx="9316068" cy="2087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42585" y="2875196"/>
            <a:ext cx="9316068" cy="68529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42585" y="10010684"/>
            <a:ext cx="2430278" cy="5750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77910" y="10010684"/>
            <a:ext cx="3645418" cy="5750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628374" y="10010684"/>
            <a:ext cx="2430278" cy="5750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080135" rtl="0" eaLnBrk="1" latinLnBrk="0" hangingPunct="1">
        <a:lnSpc>
          <a:spcPct val="90000"/>
        </a:lnSpc>
        <a:spcBef>
          <a:spcPct val="0"/>
        </a:spcBef>
        <a:buNone/>
        <a:defRPr sz="51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875" indent="-269875" algn="l" defTabSz="1080135" rtl="0" eaLnBrk="1" latinLnBrk="0" hangingPunct="1">
        <a:lnSpc>
          <a:spcPct val="90000"/>
        </a:lnSpc>
        <a:spcBef>
          <a:spcPts val="1180"/>
        </a:spcBef>
        <a:buFont typeface="Arial" panose="020B0604020202020204" pitchFamily="34" charset="0"/>
        <a:buChar char="•"/>
        <a:defRPr sz="3310" kern="1200">
          <a:solidFill>
            <a:schemeClr val="tx1"/>
          </a:solidFill>
          <a:latin typeface="+mn-lt"/>
          <a:ea typeface="+mn-ea"/>
          <a:cs typeface="+mn-cs"/>
        </a:defRPr>
      </a:lvl1pPr>
      <a:lvl2pPr marL="810260" indent="-269875" algn="l" defTabSz="1080135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50010" indent="-269875" algn="l" defTabSz="1080135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2360" kern="1200">
          <a:solidFill>
            <a:schemeClr val="tx1"/>
          </a:solidFill>
          <a:latin typeface="+mn-lt"/>
          <a:ea typeface="+mn-ea"/>
          <a:cs typeface="+mn-cs"/>
        </a:defRPr>
      </a:lvl3pPr>
      <a:lvl4pPr marL="1889760" indent="-269875" algn="l" defTabSz="1080135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2125" kern="1200">
          <a:solidFill>
            <a:schemeClr val="tx1"/>
          </a:solidFill>
          <a:latin typeface="+mn-lt"/>
          <a:ea typeface="+mn-ea"/>
          <a:cs typeface="+mn-cs"/>
        </a:defRPr>
      </a:lvl4pPr>
      <a:lvl5pPr marL="2430145" indent="-269875" algn="l" defTabSz="1080135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2125" kern="1200">
          <a:solidFill>
            <a:schemeClr val="tx1"/>
          </a:solidFill>
          <a:latin typeface="+mn-lt"/>
          <a:ea typeface="+mn-ea"/>
          <a:cs typeface="+mn-cs"/>
        </a:defRPr>
      </a:lvl5pPr>
      <a:lvl6pPr marL="2970530" indent="-269875" algn="l" defTabSz="1080135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2125" kern="1200">
          <a:solidFill>
            <a:schemeClr val="tx1"/>
          </a:solidFill>
          <a:latin typeface="+mn-lt"/>
          <a:ea typeface="+mn-ea"/>
          <a:cs typeface="+mn-cs"/>
        </a:defRPr>
      </a:lvl6pPr>
      <a:lvl7pPr marL="3510280" indent="-269875" algn="l" defTabSz="1080135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2125" kern="1200">
          <a:solidFill>
            <a:schemeClr val="tx1"/>
          </a:solidFill>
          <a:latin typeface="+mn-lt"/>
          <a:ea typeface="+mn-ea"/>
          <a:cs typeface="+mn-cs"/>
        </a:defRPr>
      </a:lvl7pPr>
      <a:lvl8pPr marL="4050665" indent="-269875" algn="l" defTabSz="1080135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2125" kern="1200">
          <a:solidFill>
            <a:schemeClr val="tx1"/>
          </a:solidFill>
          <a:latin typeface="+mn-lt"/>
          <a:ea typeface="+mn-ea"/>
          <a:cs typeface="+mn-cs"/>
        </a:defRPr>
      </a:lvl8pPr>
      <a:lvl9pPr marL="4590415" indent="-269875" algn="l" defTabSz="1080135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2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1pPr>
      <a:lvl2pPr marL="540385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2pPr>
      <a:lvl3pPr marL="1080135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3pPr>
      <a:lvl4pPr marL="1619885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5pPr>
      <a:lvl6pPr marL="2700020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6pPr>
      <a:lvl7pPr marL="3240405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7pPr>
      <a:lvl8pPr marL="3780790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8pPr>
      <a:lvl9pPr marL="4320540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fig4a_rank1_accuracy_mces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0290" y="48260"/>
            <a:ext cx="4427314" cy="25128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19843" y="4728658"/>
            <a:ext cx="335296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latin typeface="+mj-ea"/>
                <a:ea typeface="+mj-ea"/>
                <a:cs typeface="Times New Roman" panose="02020603050405020304" charset="0"/>
              </a:rPr>
              <a:t>e</a:t>
            </a:r>
            <a:endParaRPr lang="en-US" altLang="zh-CN" sz="1400" b="1">
              <a:latin typeface="+mj-ea"/>
              <a:ea typeface="+mj-ea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19785" y="0"/>
            <a:ext cx="3352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latin typeface="+mj-ea"/>
                <a:ea typeface="+mj-ea"/>
                <a:cs typeface="Times New Roman" panose="02020603050405020304" charset="0"/>
              </a:rPr>
              <a:t>a</a:t>
            </a:r>
            <a:endParaRPr lang="en-US" altLang="zh-CN" sz="1400" b="1">
              <a:latin typeface="+mj-ea"/>
              <a:ea typeface="+mj-ea"/>
              <a:cs typeface="Times New Roman" panose="02020603050405020304" charset="0"/>
            </a:endParaRPr>
          </a:p>
        </p:txBody>
      </p:sp>
      <p:pic>
        <p:nvPicPr>
          <p:cNvPr id="7" name="图片 6" descr="fig4b_top10_accuracy_mces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0605" y="2522855"/>
            <a:ext cx="4450864" cy="25128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19843" y="2328993"/>
            <a:ext cx="335296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latin typeface="+mj-ea"/>
                <a:ea typeface="+mj-ea"/>
                <a:cs typeface="Times New Roman" panose="02020603050405020304" charset="0"/>
              </a:rPr>
              <a:t>c</a:t>
            </a:r>
            <a:endParaRPr lang="en-US" altLang="zh-CN" sz="1400" b="1">
              <a:latin typeface="+mj-ea"/>
              <a:ea typeface="+mj-ea"/>
              <a:cs typeface="Times New Roman" panose="02020603050405020304" charset="0"/>
            </a:endParaRPr>
          </a:p>
        </p:txBody>
      </p:sp>
      <p:pic>
        <p:nvPicPr>
          <p:cNvPr id="9" name="图片 8" descr="fig4c_denovo_ecfp4_dumbbell_refined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4745" y="4966335"/>
            <a:ext cx="4342539" cy="2937600"/>
          </a:xfrm>
          <a:prstGeom prst="rect">
            <a:avLst/>
          </a:prstGeom>
        </p:spPr>
      </p:pic>
      <p:pic>
        <p:nvPicPr>
          <p:cNvPr id="15" name="图片 14" descr="fig2b_ablation_slope_compact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01310" y="111760"/>
            <a:ext cx="4580255" cy="16490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530273" y="-187"/>
            <a:ext cx="335296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latin typeface="+mj-ea"/>
                <a:ea typeface="+mj-ea"/>
                <a:cs typeface="Times New Roman" panose="02020603050405020304" charset="0"/>
              </a:rPr>
              <a:t>b</a:t>
            </a:r>
            <a:endParaRPr lang="en-US" altLang="zh-CN" sz="1400" b="1">
              <a:latin typeface="+mj-ea"/>
              <a:ea typeface="+mj-ea"/>
              <a:cs typeface="Times New Roman" panose="02020603050405020304" charset="0"/>
            </a:endParaRPr>
          </a:p>
        </p:txBody>
      </p:sp>
      <p:pic>
        <p:nvPicPr>
          <p:cNvPr id="3" name="图片 2" descr="fig_formula_hypothesis_trends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54980" y="1760855"/>
            <a:ext cx="4185892" cy="36468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530273" y="1760668"/>
            <a:ext cx="335296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latin typeface="+mj-ea"/>
                <a:ea typeface="+mj-ea"/>
                <a:cs typeface="Times New Roman" panose="02020603050405020304" charset="0"/>
              </a:rPr>
              <a:t>d</a:t>
            </a:r>
            <a:endParaRPr lang="en-US" altLang="zh-CN" sz="1400" b="1">
              <a:latin typeface="+mj-ea"/>
              <a:ea typeface="+mj-ea"/>
              <a:cs typeface="Times New Roman" panose="02020603050405020304" charset="0"/>
            </a:endParaRPr>
          </a:p>
        </p:txBody>
      </p:sp>
      <p:pic>
        <p:nvPicPr>
          <p:cNvPr id="13" name="图片 12" descr="Fig3f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36895" y="5388610"/>
            <a:ext cx="4021224" cy="24948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530273" y="5254438"/>
            <a:ext cx="335296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latin typeface="+mj-ea"/>
                <a:ea typeface="+mj-ea"/>
                <a:cs typeface="Times New Roman" panose="02020603050405020304" charset="0"/>
              </a:rPr>
              <a:t>f</a:t>
            </a:r>
            <a:endParaRPr lang="en-US" altLang="zh-CN" sz="1400" b="1">
              <a:latin typeface="+mj-ea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TQ1MjIwYmQ2ZmI0OGExZWRlNjc5YTU1ZTM2NDA3YW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WPS 演示</Application>
  <PresentationFormat>宽屏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帅ヅ尐少爷</cp:lastModifiedBy>
  <cp:revision>43</cp:revision>
  <dcterms:created xsi:type="dcterms:W3CDTF">2023-08-09T12:44:00Z</dcterms:created>
  <dcterms:modified xsi:type="dcterms:W3CDTF">2026-09-03T08:06:20Z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2052-12.1.0.18276</vt:lpwstr>
  </property>
</Properties>
</file>